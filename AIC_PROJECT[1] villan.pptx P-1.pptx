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2" r:id="rId3"/>
    <p:sldId id="257" r:id="rId4"/>
    <p:sldId id="264" r:id="rId5"/>
    <p:sldId id="260" r:id="rId6"/>
    <p:sldId id="259"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28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53E04A-9067-41FE-BD59-6E7DE7973665}"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2244FE-613E-4943-8591-FE165531F20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53E04A-9067-41FE-BD59-6E7DE7973665}"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153E04A-9067-41FE-BD59-6E7DE7973665}"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2244FE-613E-4943-8591-FE165531F20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53E04A-9067-41FE-BD59-6E7DE7973665}"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53E04A-9067-41FE-BD59-6E7DE7973665}" type="datetimeFigureOut">
              <a:rPr lang="en-IN" smtClean="0"/>
              <a:t>05-12-2025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53E04A-9067-41FE-BD59-6E7DE7973665}" type="datetimeFigureOut">
              <a:rPr lang="en-IN" smtClean="0"/>
              <a:t>05-12-2025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153E04A-9067-41FE-BD59-6E7DE7973665}" type="datetimeFigureOut">
              <a:rPr lang="en-IN" smtClean="0"/>
              <a:t>05-12-2025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153E04A-9067-41FE-BD59-6E7DE7973665}" type="datetimeFigureOut">
              <a:rPr lang="en-IN" smtClean="0"/>
              <a:t>05-12-2025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02244FE-613E-4943-8591-FE165531F20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153E04A-9067-41FE-BD59-6E7DE7973665}" type="datetimeFigureOut">
              <a:rPr lang="en-IN" smtClean="0"/>
              <a:t>05-12-2025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53E04A-9067-41FE-BD59-6E7DE7973665}"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53E04A-9067-41FE-BD59-6E7DE7973665}"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6000" y="394405"/>
            <a:ext cx="10800000" cy="792000"/>
          </a:xfrm>
        </p:spPr>
        <p:txBody>
          <a:bodyPr/>
          <a:lstStyle>
            <a:lvl1pPr algn="ctr">
              <a:defRPr sz="3200">
                <a:solidFill>
                  <a:schemeClr val="tx1">
                    <a:lumMod val="85000"/>
                    <a:lumOff val="15000"/>
                  </a:schemeClr>
                </a:solidFill>
                <a:latin typeface="+mj-lt"/>
              </a:defRPr>
            </a:lvl1pPr>
          </a:lstStyle>
          <a:p>
            <a:r>
              <a:rPr lang="en-US" dirty="0"/>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53E04A-9067-41FE-BD59-6E7DE7973665}" type="datetimeFigureOut">
              <a:rPr lang="en-IN" smtClean="0"/>
              <a:t>05-12-2025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2244FE-613E-4943-8591-FE165531F20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153E04A-9067-41FE-BD59-6E7DE7973665}" type="datetimeFigureOut">
              <a:rPr lang="en-IN" smtClean="0"/>
              <a:t>05-12-2025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02244FE-613E-4943-8591-FE165531F20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4299" y="66040"/>
            <a:ext cx="10058400" cy="3566160"/>
          </a:xfrm>
        </p:spPr>
        <p:txBody>
          <a:bodyPr>
            <a:normAutofit/>
          </a:bodyPr>
          <a:lstStyle/>
          <a:p>
            <a:r>
              <a:rPr lang="en-IN" sz="6600" dirty="0">
                <a:latin typeface="Bahnschrift SemiCondensed" panose="020B0502040204020203" pitchFamily="34" charset="0"/>
              </a:rPr>
              <a:t>TIME BASED APPLIANCE CONTROL WITH REAL TIME FEEDBACK</a:t>
            </a:r>
          </a:p>
        </p:txBody>
      </p:sp>
      <p:sp>
        <p:nvSpPr>
          <p:cNvPr id="3" name="Subtitle 2"/>
          <p:cNvSpPr>
            <a:spLocks noGrp="1"/>
          </p:cNvSpPr>
          <p:nvPr>
            <p:ph type="subTitle" idx="1"/>
          </p:nvPr>
        </p:nvSpPr>
        <p:spPr>
          <a:xfrm>
            <a:off x="1371600" y="3632200"/>
            <a:ext cx="9448800" cy="2417535"/>
          </a:xfrm>
        </p:spPr>
        <p:txBody>
          <a:bodyPr>
            <a:normAutofit fontScale="80000" lnSpcReduction="10000"/>
          </a:bodyPr>
          <a:lstStyle/>
          <a:p>
            <a:r>
              <a:rPr lang="en-US" b="1" dirty="0">
                <a:latin typeface="Centaur" panose="02030504050205020304" pitchFamily="18" charset="0"/>
              </a:rPr>
              <a:t>BY MEMBERS</a:t>
            </a:r>
          </a:p>
          <a:p>
            <a:pPr marL="457200" indent="-457200">
              <a:buFont typeface="+mj-lt"/>
              <a:buAutoNum type="arabicPeriod"/>
            </a:pPr>
            <a:r>
              <a:rPr lang="en-IN" altLang="en-US" b="1" dirty="0">
                <a:latin typeface="Centaur" panose="02030504050205020304" pitchFamily="18" charset="0"/>
              </a:rPr>
              <a:t>PRANAV K P(927624BEC158)</a:t>
            </a:r>
            <a:r>
              <a:rPr lang="en-US" b="1" dirty="0">
                <a:latin typeface="Centaur" panose="02030504050205020304" pitchFamily="18" charset="0"/>
              </a:rPr>
              <a:t>	</a:t>
            </a:r>
          </a:p>
          <a:p>
            <a:pPr marL="457200" indent="-457200">
              <a:buFont typeface="+mj-lt"/>
              <a:buAutoNum type="arabicPeriod"/>
            </a:pPr>
            <a:r>
              <a:rPr lang="en-IN" altLang="en-US" b="1" dirty="0">
                <a:latin typeface="Centaur" panose="02030504050205020304" pitchFamily="18" charset="0"/>
              </a:rPr>
              <a:t>POOVENTHAN K</a:t>
            </a:r>
            <a:r>
              <a:rPr lang="en-IN" altLang="en-US" b="1" dirty="0">
                <a:latin typeface="Centaur" panose="02030504050205020304" pitchFamily="18" charset="0"/>
                <a:sym typeface="+mn-ea"/>
              </a:rPr>
              <a:t>(927624BEC156)</a:t>
            </a:r>
            <a:endParaRPr lang="en-US" b="1" dirty="0">
              <a:latin typeface="Centaur" panose="02030504050205020304" pitchFamily="18" charset="0"/>
            </a:endParaRPr>
          </a:p>
          <a:p>
            <a:pPr marL="457200" indent="-457200">
              <a:buFont typeface="+mj-lt"/>
              <a:buAutoNum type="arabicPeriod"/>
            </a:pPr>
            <a:r>
              <a:rPr lang="en-IN" altLang="en-US" b="1" dirty="0">
                <a:latin typeface="Centaur" panose="02030504050205020304" pitchFamily="18" charset="0"/>
              </a:rPr>
              <a:t>PONRASU P</a:t>
            </a:r>
            <a:r>
              <a:rPr lang="en-IN" altLang="en-US" b="1" dirty="0">
                <a:latin typeface="Centaur" panose="02030504050205020304" pitchFamily="18" charset="0"/>
                <a:sym typeface="+mn-ea"/>
              </a:rPr>
              <a:t>(927624BEC155)</a:t>
            </a:r>
            <a:endParaRPr lang="en-US" b="1" dirty="0">
              <a:latin typeface="Centaur" panose="02030504050205020304" pitchFamily="18" charset="0"/>
            </a:endParaRPr>
          </a:p>
          <a:p>
            <a:pPr marL="457200" indent="-457200">
              <a:buFont typeface="+mj-lt"/>
              <a:buAutoNum type="arabicPeriod"/>
            </a:pPr>
            <a:r>
              <a:rPr lang="en-IN" altLang="en-US" b="1" dirty="0">
                <a:latin typeface="Centaur" panose="02030504050205020304" pitchFamily="18" charset="0"/>
              </a:rPr>
              <a:t>NIVASH S</a:t>
            </a:r>
            <a:r>
              <a:rPr lang="en-IN" altLang="en-US" b="1" dirty="0">
                <a:latin typeface="Centaur" panose="02030504050205020304" pitchFamily="18" charset="0"/>
                <a:sym typeface="+mn-ea"/>
              </a:rPr>
              <a:t>(927624BEC153)</a:t>
            </a:r>
            <a:endParaRPr lang="en-IN" altLang="en-US" b="1" dirty="0">
              <a:latin typeface="Centaur" panose="02030504050205020304" pitchFamily="18" charset="0"/>
            </a:endParaRPr>
          </a:p>
          <a:p>
            <a:pPr marL="457200" indent="-457200">
              <a:buFont typeface="+mj-lt"/>
              <a:buAutoNum type="arabicPeriod"/>
            </a:pPr>
            <a:r>
              <a:rPr lang="en-IN" altLang="en-US" b="1" dirty="0">
                <a:latin typeface="Centaur" panose="02030504050205020304" pitchFamily="18" charset="0"/>
              </a:rPr>
              <a:t>NITISH P</a:t>
            </a:r>
            <a:r>
              <a:rPr lang="en-IN" altLang="en-US" b="1" dirty="0">
                <a:latin typeface="Centaur" panose="02030504050205020304" pitchFamily="18" charset="0"/>
                <a:sym typeface="+mn-ea"/>
              </a:rPr>
              <a:t>(927624BEC151)</a:t>
            </a:r>
            <a:endParaRPr lang="en-IN" b="1" dirty="0">
              <a:latin typeface="Centaur" panose="020305040502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403" y="413391"/>
            <a:ext cx="8610600" cy="1293028"/>
          </a:xfrm>
        </p:spPr>
        <p:txBody>
          <a:bodyPr/>
          <a:lstStyle/>
          <a:p>
            <a:r>
              <a:rPr lang="en-US" dirty="0">
                <a:latin typeface="Castellar" panose="020A0402060406010301" pitchFamily="18" charset="0"/>
              </a:rPr>
              <a:t>ABSTRACT</a:t>
            </a:r>
            <a:endParaRPr lang="en-IN" dirty="0">
              <a:latin typeface="Castellar" panose="020A0402060406010301" pitchFamily="18" charset="0"/>
            </a:endParaRPr>
          </a:p>
        </p:txBody>
      </p:sp>
      <p:sp>
        <p:nvSpPr>
          <p:cNvPr id="3" name="Content Placeholder 2"/>
          <p:cNvSpPr>
            <a:spLocks noGrp="1"/>
          </p:cNvSpPr>
          <p:nvPr>
            <p:ph idx="1"/>
          </p:nvPr>
        </p:nvSpPr>
        <p:spPr/>
        <p:txBody>
          <a:bodyPr>
            <a:noAutofit/>
          </a:bodyPr>
          <a:lstStyle/>
          <a:p>
            <a:r>
              <a:rPr lang="en-US" sz="1900" b="1" dirty="0">
                <a:latin typeface="Times New Roman" panose="02020603050405020304" charset="0"/>
                <a:cs typeface="Times New Roman" panose="02020603050405020304" charset="0"/>
              </a:rPr>
              <a:t>Problem:</a:t>
            </a:r>
            <a:br>
              <a:rPr lang="en-US" sz="1900" dirty="0">
                <a:latin typeface="Times New Roman" panose="02020603050405020304" charset="0"/>
                <a:cs typeface="Times New Roman" panose="02020603050405020304" charset="0"/>
              </a:rPr>
            </a:br>
            <a:r>
              <a:rPr lang="en-US" altLang="en-US" sz="1900" dirty="0">
                <a:latin typeface="Times New Roman" panose="02020603050405020304" charset="0"/>
                <a:cs typeface="Times New Roman" panose="02020603050405020304" charset="0"/>
              </a:rPr>
              <a:t>The rapid increase in electricity consumption, coupled with inefficient appliance usage, results in unnecessary energy wastage and higher utility costs. Traditional appliance control methods lack precise scheduling and fail to provide real-time operational feedback, making it difficult for users to track energy patterns or respond to unexpected malfunctions. Moreover, manual intervention often leads to inconsistent energy-saving practices, reducing the effectiveness of conservation efforts.</a:t>
            </a:r>
          </a:p>
          <a:p>
            <a:r>
              <a:rPr lang="en-US" sz="1900" b="1" dirty="0">
                <a:latin typeface="Times New Roman" panose="02020603050405020304" charset="0"/>
                <a:cs typeface="Times New Roman" panose="02020603050405020304" charset="0"/>
              </a:rPr>
              <a:t>Solution:</a:t>
            </a:r>
            <a:br>
              <a:rPr lang="en-US" sz="1900" dirty="0">
                <a:latin typeface="Times New Roman" panose="02020603050405020304" charset="0"/>
                <a:cs typeface="Times New Roman" panose="02020603050405020304" charset="0"/>
              </a:rPr>
            </a:br>
            <a:r>
              <a:rPr lang="en-US" altLang="en-US" sz="1900" dirty="0">
                <a:latin typeface="Times New Roman" panose="02020603050405020304" charset="0"/>
                <a:cs typeface="Times New Roman" panose="02020603050405020304" charset="0"/>
              </a:rPr>
              <a:t>To address these challenges, this project proposes a time-based appliance control system with integrated real-time feedback. The system enables users to set predefined operational schedules for appliances, ensuring automatic activation and deactivation at optimal times. Real-time monitoring provides instant feedback on power consumption, appliance status, and irregularities, empowering users to take immediate corrective actions. By merging automation with continuous performance insights, the solution enhances energy efficiency, reduces human dependency, and supports informed energy management decisions. This approach not only optimizes appliance usage but also contributes to cost reduction and environmental sustainability.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1028" y="452580"/>
            <a:ext cx="6398895" cy="1232997"/>
          </a:xfrm>
        </p:spPr>
        <p:txBody>
          <a:bodyPr>
            <a:normAutofit/>
          </a:bodyPr>
          <a:lstStyle/>
          <a:p>
            <a:r>
              <a:rPr lang="en-US">
                <a:latin typeface="Castellar" panose="020A0402060406010301" pitchFamily="18" charset="0"/>
                <a:cs typeface="Castellar" panose="020A0402060406010301" pitchFamily="18" charset="0"/>
              </a:rPr>
              <a:t>BLOCK DIAGRAM</a:t>
            </a:r>
            <a:endParaRPr lang="en-US" dirty="0">
              <a:latin typeface="Castellar" panose="020A0402060406010301" pitchFamily="18" charset="0"/>
              <a:cs typeface="Castellar" panose="020A0402060406010301" pitchFamily="18" charset="0"/>
            </a:endParaRPr>
          </a:p>
        </p:txBody>
      </p:sp>
      <p:pic>
        <p:nvPicPr>
          <p:cNvPr id="15" name="Content Placeholder 14">
            <a:extLst>
              <a:ext uri="{FF2B5EF4-FFF2-40B4-BE49-F238E27FC236}">
                <a16:creationId xmlns:a16="http://schemas.microsoft.com/office/drawing/2014/main" id="{656465E8-C3F1-4FA8-800F-8ADDBFE7C6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4638" y="1906621"/>
            <a:ext cx="7176333" cy="4175826"/>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altLang="en-US" dirty="0">
                <a:latin typeface="Bauhaus 93" panose="04030905020B02020C02" pitchFamily="82" charset="0"/>
                <a:sym typeface="+mn-ea"/>
              </a:rPr>
              <a:t>      </a:t>
            </a:r>
            <a:r>
              <a:rPr lang="en-US" sz="4400" dirty="0">
                <a:latin typeface="Castellar" panose="020A0402060406010301" pitchFamily="18" charset="0"/>
                <a:cs typeface="Castellar" panose="020A0402060406010301" pitchFamily="18" charset="0"/>
                <a:sym typeface="+mn-ea"/>
              </a:rPr>
              <a:t>COMPONENTS AND ITS</a:t>
            </a:r>
            <a:r>
              <a:rPr lang="en-IN" altLang="en-US" sz="4400" dirty="0">
                <a:latin typeface="Castellar" panose="020A0402060406010301" pitchFamily="18" charset="0"/>
                <a:cs typeface="Castellar" panose="020A0402060406010301" pitchFamily="18" charset="0"/>
                <a:sym typeface="+mn-ea"/>
              </a:rPr>
              <a:t> </a:t>
            </a:r>
            <a:r>
              <a:rPr lang="en-US" sz="4400" dirty="0">
                <a:latin typeface="Castellar" panose="020A0402060406010301" pitchFamily="18" charset="0"/>
                <a:cs typeface="Castellar" panose="020A0402060406010301" pitchFamily="18" charset="0"/>
                <a:sym typeface="+mn-ea"/>
              </a:rPr>
              <a:t>USES</a:t>
            </a:r>
            <a:endParaRPr lang="en-US" sz="4400">
              <a:latin typeface="Castellar" panose="020A0402060406010301" pitchFamily="18" charset="0"/>
              <a:cs typeface="Castellar" panose="020A0402060406010301" pitchFamily="18" charset="0"/>
            </a:endParaRPr>
          </a:p>
        </p:txBody>
      </p:sp>
      <p:sp>
        <p:nvSpPr>
          <p:cNvPr id="5" name="Content Placeholder 4"/>
          <p:cNvSpPr>
            <a:spLocks noGrp="1"/>
          </p:cNvSpPr>
          <p:nvPr>
            <p:ph idx="1"/>
          </p:nvPr>
        </p:nvSpPr>
        <p:spPr/>
        <p:txBody>
          <a:bodyPr>
            <a:normAutofit fontScale="25000" lnSpcReduction="20000"/>
          </a:bodyPr>
          <a:lstStyle/>
          <a:p>
            <a:pPr>
              <a:buFont typeface="Wingdings" panose="05000000000000000000" charset="0"/>
              <a:buChar char="Ø"/>
            </a:pPr>
            <a:r>
              <a:rPr lang="en-US" altLang="en-US" sz="9600">
                <a:latin typeface="Times New Roman" panose="02020603050405020304" charset="0"/>
                <a:cs typeface="Times New Roman" panose="02020603050405020304" charset="0"/>
              </a:rPr>
              <a:t>NE555 Timer IC: Generates timing pulses for LED control.</a:t>
            </a:r>
          </a:p>
          <a:p>
            <a:pPr>
              <a:buFont typeface="Wingdings" panose="05000000000000000000" charset="0"/>
              <a:buChar char="Ø"/>
            </a:pPr>
            <a:r>
              <a:rPr lang="en-US" altLang="en-US" sz="9600">
                <a:latin typeface="Times New Roman" panose="02020603050405020304" charset="0"/>
                <a:cs typeface="Times New Roman" panose="02020603050405020304" charset="0"/>
              </a:rPr>
              <a:t>10K Resistor: Sets timing parameters with capacitor.</a:t>
            </a:r>
          </a:p>
          <a:p>
            <a:pPr>
              <a:buFont typeface="Wingdings" panose="05000000000000000000" charset="0"/>
              <a:buChar char="Ø"/>
            </a:pPr>
            <a:r>
              <a:rPr lang="en-US" altLang="en-US" sz="9600">
                <a:latin typeface="Times New Roman" panose="02020603050405020304" charset="0"/>
                <a:cs typeface="Times New Roman" panose="02020603050405020304" charset="0"/>
              </a:rPr>
              <a:t>470μF Capacitor: Controls timing interval by charging/discharging.</a:t>
            </a:r>
          </a:p>
          <a:p>
            <a:pPr>
              <a:buFont typeface="Wingdings" panose="05000000000000000000" charset="0"/>
              <a:buChar char="Ø"/>
            </a:pPr>
            <a:r>
              <a:rPr lang="en-US" altLang="en-US" sz="9600">
                <a:latin typeface="Times New Roman" panose="02020603050405020304" charset="0"/>
                <a:cs typeface="Times New Roman" panose="02020603050405020304" charset="0"/>
              </a:rPr>
              <a:t>Potentiometer (POT): Adjusts timing duration by varying resistance.</a:t>
            </a:r>
          </a:p>
          <a:p>
            <a:pPr>
              <a:buFont typeface="Wingdings" panose="05000000000000000000" charset="0"/>
              <a:buChar char="Ø"/>
            </a:pPr>
            <a:r>
              <a:rPr lang="en-US" altLang="en-US" sz="9600">
                <a:latin typeface="Times New Roman" panose="02020603050405020304" charset="0"/>
                <a:cs typeface="Times New Roman" panose="02020603050405020304" charset="0"/>
              </a:rPr>
              <a:t>Switch (S1): Triggers the timer to start the timing cycle.</a:t>
            </a:r>
          </a:p>
          <a:p>
            <a:pPr>
              <a:buFont typeface="Wingdings" panose="05000000000000000000" charset="0"/>
              <a:buChar char="Ø"/>
            </a:pPr>
            <a:r>
              <a:rPr lang="en-US" altLang="en-US" sz="9600">
                <a:latin typeface="Times New Roman" panose="02020603050405020304" charset="0"/>
                <a:cs typeface="Times New Roman" panose="02020603050405020304" charset="0"/>
              </a:rPr>
              <a:t>NPN Transistor: Acts as a switch controlling current flow.</a:t>
            </a:r>
          </a:p>
          <a:p>
            <a:pPr>
              <a:buFont typeface="Wingdings" panose="05000000000000000000" charset="0"/>
              <a:buChar char="Ø"/>
            </a:pPr>
            <a:r>
              <a:rPr lang="en-US" altLang="en-US" sz="9600">
                <a:latin typeface="Times New Roman" panose="02020603050405020304" charset="0"/>
                <a:cs typeface="Times New Roman" panose="02020603050405020304" charset="0"/>
              </a:rPr>
              <a:t>LED: Visual output indicating timer activation.</a:t>
            </a:r>
          </a:p>
          <a:p>
            <a:pPr>
              <a:buFont typeface="Wingdings" panose="05000000000000000000" charset="0"/>
              <a:buChar char="Ø"/>
            </a:pPr>
            <a:r>
              <a:rPr lang="en-US" altLang="en-US" sz="9600">
                <a:latin typeface="Times New Roman" panose="02020603050405020304" charset="0"/>
                <a:cs typeface="Times New Roman" panose="02020603050405020304" charset="0"/>
              </a:rPr>
              <a:t>220Ω Resistor: Limits current to protect the LED.</a:t>
            </a:r>
          </a:p>
          <a:p>
            <a:pPr>
              <a:buFont typeface="Wingdings" panose="05000000000000000000" charset="0"/>
              <a:buChar char="Ø"/>
            </a:pPr>
            <a:r>
              <a:rPr lang="en-US" altLang="en-US" sz="9600">
                <a:latin typeface="Times New Roman" panose="02020603050405020304" charset="0"/>
                <a:cs typeface="Times New Roman" panose="02020603050405020304" charset="0"/>
              </a:rPr>
              <a:t>Power Supply (5-12V): Powers the entire circuit.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1018" y="348904"/>
            <a:ext cx="6542405" cy="1292860"/>
          </a:xfrm>
        </p:spPr>
        <p:txBody>
          <a:bodyPr>
            <a:normAutofit/>
          </a:bodyPr>
          <a:lstStyle/>
          <a:p>
            <a:r>
              <a:rPr lang="en-IN" dirty="0">
                <a:latin typeface="Colonna MT" panose="04020805060202030203" pitchFamily="82" charset="0"/>
              </a:rPr>
              <a:t>Real-time Applications</a:t>
            </a:r>
          </a:p>
        </p:txBody>
      </p:sp>
      <p:sp>
        <p:nvSpPr>
          <p:cNvPr id="3" name="Content Placeholder 2"/>
          <p:cNvSpPr>
            <a:spLocks noGrp="1"/>
          </p:cNvSpPr>
          <p:nvPr>
            <p:ph idx="1"/>
          </p:nvPr>
        </p:nvSpPr>
        <p:spPr>
          <a:xfrm>
            <a:off x="560705" y="1858010"/>
            <a:ext cx="10820400" cy="4360545"/>
          </a:xfrm>
        </p:spPr>
        <p:txBody>
          <a:bodyPr>
            <a:normAutofit fontScale="25000" lnSpcReduction="20000"/>
          </a:bodyPr>
          <a:lstStyle/>
          <a:p>
            <a:pPr marL="0" indent="0">
              <a:buNone/>
            </a:pPr>
            <a:r>
              <a:rPr lang="en-IN" altLang="en-US" sz="7200" dirty="0"/>
              <a:t>1</a:t>
            </a:r>
            <a:r>
              <a:rPr lang="en-IN" altLang="en-US" sz="7200" dirty="0">
                <a:latin typeface="Times New Roman" panose="02020603050405020304" charset="0"/>
                <a:cs typeface="Times New Roman" panose="02020603050405020304" charset="0"/>
              </a:rPr>
              <a:t>.</a:t>
            </a:r>
            <a:r>
              <a:rPr lang="en-US" altLang="en-US" sz="7200" dirty="0">
                <a:latin typeface="Times New Roman" panose="02020603050405020304" charset="0"/>
                <a:cs typeface="Times New Roman" panose="02020603050405020304" charset="0"/>
              </a:rPr>
              <a:t> Smart Home Energy Management</a:t>
            </a:r>
          </a:p>
          <a:p>
            <a:pPr marL="0" indent="0">
              <a:buNone/>
            </a:pPr>
            <a:r>
              <a:rPr lang="en-IN" altLang="en-US" sz="7200" dirty="0">
                <a:latin typeface="Times New Roman" panose="02020603050405020304" charset="0"/>
                <a:cs typeface="Times New Roman" panose="02020603050405020304" charset="0"/>
              </a:rPr>
              <a:t>   </a:t>
            </a:r>
            <a:r>
              <a:rPr lang="en-US" altLang="en-US" sz="7200" dirty="0">
                <a:latin typeface="Times New Roman" panose="02020603050405020304" charset="0"/>
                <a:cs typeface="Times New Roman" panose="02020603050405020304" charset="0"/>
              </a:rPr>
              <a:t>Automatically runs washing machines, water heaters, or air conditioners during off-peak electricity hours.Sends real-time energy usage alerts to homeowners via mobile apps.</a:t>
            </a:r>
          </a:p>
          <a:p>
            <a:pPr marL="0" indent="0">
              <a:buNone/>
            </a:pPr>
            <a:r>
              <a:rPr lang="en-US" altLang="en-US" sz="7200" dirty="0">
                <a:latin typeface="Times New Roman" panose="02020603050405020304" charset="0"/>
                <a:cs typeface="Times New Roman" panose="02020603050405020304" charset="0"/>
              </a:rPr>
              <a:t>2. Industrial Equipment Scheduling</a:t>
            </a:r>
          </a:p>
          <a:p>
            <a:pPr marL="0" indent="0">
              <a:buNone/>
            </a:pPr>
            <a:r>
              <a:rPr lang="en-IN" altLang="en-US" sz="7200" dirty="0">
                <a:latin typeface="Times New Roman" panose="02020603050405020304" charset="0"/>
                <a:cs typeface="Times New Roman" panose="02020603050405020304" charset="0"/>
              </a:rPr>
              <a:t>    </a:t>
            </a:r>
            <a:r>
              <a:rPr lang="en-US" altLang="en-US" sz="7200" dirty="0">
                <a:latin typeface="Times New Roman" panose="02020603050405020304" charset="0"/>
                <a:cs typeface="Times New Roman" panose="02020603050405020304" charset="0"/>
              </a:rPr>
              <a:t>Controls heavy machinery to operate only in pre-set time slots to avoid peak tariffs.</a:t>
            </a:r>
          </a:p>
          <a:p>
            <a:pPr marL="0" indent="0">
              <a:buNone/>
            </a:pPr>
            <a:r>
              <a:rPr lang="en-US" altLang="en-US" sz="7200" dirty="0">
                <a:latin typeface="Times New Roman" panose="02020603050405020304" charset="0"/>
                <a:cs typeface="Times New Roman" panose="02020603050405020304" charset="0"/>
              </a:rPr>
              <a:t>Provides real-time performance data to maintenance teams to detect faults early.</a:t>
            </a:r>
          </a:p>
          <a:p>
            <a:pPr marL="0" indent="0">
              <a:buNone/>
            </a:pPr>
            <a:r>
              <a:rPr lang="en-US" altLang="en-US" sz="7200" dirty="0">
                <a:latin typeface="Times New Roman" panose="02020603050405020304" charset="0"/>
                <a:cs typeface="Times New Roman" panose="02020603050405020304" charset="0"/>
              </a:rPr>
              <a:t>3. Office and Commercial Buildings</a:t>
            </a:r>
          </a:p>
          <a:p>
            <a:pPr marL="0" indent="0">
              <a:buNone/>
            </a:pPr>
            <a:r>
              <a:rPr lang="en-IN" altLang="en-US" sz="7200" dirty="0">
                <a:latin typeface="Times New Roman" panose="02020603050405020304" charset="0"/>
                <a:cs typeface="Times New Roman" panose="02020603050405020304" charset="0"/>
              </a:rPr>
              <a:t>   </a:t>
            </a:r>
            <a:r>
              <a:rPr lang="en-US" altLang="en-US" sz="7200" dirty="0">
                <a:latin typeface="Times New Roman" panose="02020603050405020304" charset="0"/>
                <a:cs typeface="Times New Roman" panose="02020603050405020304" charset="0"/>
              </a:rPr>
              <a:t>Automates lighting, HVAC (heating, ventilation, air conditioning), and office equipment according to working hours.</a:t>
            </a:r>
          </a:p>
          <a:p>
            <a:pPr marL="0" indent="0">
              <a:buNone/>
            </a:pPr>
            <a:r>
              <a:rPr lang="en-US" altLang="en-US" sz="7200" dirty="0">
                <a:latin typeface="Times New Roman" panose="02020603050405020304" charset="0"/>
                <a:cs typeface="Times New Roman" panose="02020603050405020304" charset="0"/>
              </a:rPr>
              <a:t>Tracks live energy usage per department to optimize resource allocation.</a:t>
            </a:r>
          </a:p>
          <a:p>
            <a:pPr marL="0" indent="0">
              <a:buNone/>
            </a:pPr>
            <a:r>
              <a:rPr lang="en-US" altLang="en-US" sz="7200" dirty="0">
                <a:latin typeface="Times New Roman" panose="02020603050405020304" charset="0"/>
                <a:cs typeface="Times New Roman" panose="02020603050405020304" charset="0"/>
              </a:rPr>
              <a:t>4. Agriculture and Irrigation Systems</a:t>
            </a:r>
            <a:r>
              <a:rPr lang="en-IN" altLang="en-US" sz="7200" dirty="0">
                <a:latin typeface="Times New Roman" panose="02020603050405020304" charset="0"/>
                <a:cs typeface="Times New Roman" panose="02020603050405020304" charset="0"/>
              </a:rPr>
              <a:t>:</a:t>
            </a:r>
            <a:endParaRPr lang="en-US" altLang="en-US" sz="7200" dirty="0">
              <a:latin typeface="Times New Roman" panose="02020603050405020304" charset="0"/>
              <a:cs typeface="Times New Roman" panose="02020603050405020304" charset="0"/>
            </a:endParaRPr>
          </a:p>
          <a:p>
            <a:pPr marL="0" indent="0">
              <a:buNone/>
            </a:pPr>
            <a:r>
              <a:rPr lang="en-IN" altLang="en-US" sz="7200" dirty="0">
                <a:latin typeface="Times New Roman" panose="02020603050405020304" charset="0"/>
                <a:cs typeface="Times New Roman" panose="02020603050405020304" charset="0"/>
              </a:rPr>
              <a:t>   </a:t>
            </a:r>
            <a:r>
              <a:rPr lang="en-US" altLang="en-US" sz="7200" dirty="0">
                <a:latin typeface="Times New Roman" panose="02020603050405020304" charset="0"/>
                <a:cs typeface="Times New Roman" panose="02020603050405020304" charset="0"/>
              </a:rPr>
              <a:t>Operates water pumps or greenhouse equipment at specific times for optimal crop watering and temperature control.</a:t>
            </a:r>
          </a:p>
          <a:p>
            <a:pPr marL="0" indent="0">
              <a:buNone/>
            </a:pPr>
            <a:endParaRPr lang="en-US" altLang="en-US" dirty="0">
              <a:latin typeface="Times New Roman" panose="02020603050405020304" charset="0"/>
              <a:cs typeface="Times New Roman" panose="02020603050405020304" charset="0"/>
            </a:endParaRPr>
          </a:p>
          <a:p>
            <a:pPr marL="0" indent="0">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769" y="459740"/>
            <a:ext cx="10716895" cy="1292860"/>
          </a:xfrm>
        </p:spPr>
        <p:txBody>
          <a:bodyPr>
            <a:normAutofit/>
          </a:bodyPr>
          <a:lstStyle/>
          <a:p>
            <a:r>
              <a:rPr lang="en-IN" altLang="en-US" sz="2800" dirty="0">
                <a:latin typeface="Castellar" panose="020A0402060406010301" pitchFamily="18" charset="0"/>
                <a:cs typeface="Castellar" panose="020A0402060406010301" pitchFamily="18" charset="0"/>
              </a:rPr>
              <a:t>HOW WILL THE</a:t>
            </a:r>
            <a:r>
              <a:rPr lang="en-US" sz="2800" dirty="0">
                <a:latin typeface="Castellar" panose="020A0402060406010301" pitchFamily="18" charset="0"/>
                <a:cs typeface="Castellar" panose="020A0402060406010301" pitchFamily="18" charset="0"/>
              </a:rPr>
              <a:t> </a:t>
            </a:r>
            <a:r>
              <a:rPr lang="en-IN" sz="2800" dirty="0">
                <a:latin typeface="Castellar" panose="020A0402060406010301" pitchFamily="18" charset="0"/>
                <a:cs typeface="Castellar" panose="020A0402060406010301" pitchFamily="18" charset="0"/>
                <a:sym typeface="+mn-ea"/>
              </a:rPr>
              <a:t>TIME BASED APPLIANCE CONTROL WITH REAL TIME FEEDBACK </a:t>
            </a:r>
            <a:r>
              <a:rPr lang="en-US" sz="2800" dirty="0">
                <a:latin typeface="Castellar" panose="020A0402060406010301" pitchFamily="18" charset="0"/>
                <a:cs typeface="Castellar" panose="020A0402060406010301" pitchFamily="18" charset="0"/>
              </a:rPr>
              <a:t>Helps the User</a:t>
            </a:r>
          </a:p>
        </p:txBody>
      </p:sp>
      <p:sp>
        <p:nvSpPr>
          <p:cNvPr id="3" name="Content Placeholder 2"/>
          <p:cNvSpPr>
            <a:spLocks noGrp="1"/>
          </p:cNvSpPr>
          <p:nvPr>
            <p:ph idx="1"/>
          </p:nvPr>
        </p:nvSpPr>
        <p:spPr>
          <a:xfrm>
            <a:off x="685800" y="1861458"/>
            <a:ext cx="10820400" cy="4357228"/>
          </a:xfrm>
        </p:spPr>
        <p:txBody>
          <a:bodyPr>
            <a:normAutofit fontScale="82500" lnSpcReduction="20000"/>
          </a:bodyPr>
          <a:lstStyle/>
          <a:p>
            <a:pPr marL="0" indent="0">
              <a:buNone/>
            </a:pPr>
            <a:endParaRPr lang="en-US" altLang="en-US" dirty="0"/>
          </a:p>
          <a:p>
            <a:pPr marL="0" indent="0">
              <a:buNone/>
            </a:pPr>
            <a:r>
              <a:rPr lang="en-US" altLang="en-US" b="1" u="sng" dirty="0">
                <a:latin typeface="Times New Roman" panose="02020603050405020304" charset="0"/>
                <a:cs typeface="Times New Roman" panose="02020603050405020304" charset="0"/>
              </a:rPr>
              <a:t>Saves Energy</a:t>
            </a:r>
            <a:r>
              <a:rPr lang="en-US" altLang="en-US" dirty="0">
                <a:latin typeface="Times New Roman" panose="02020603050405020304" charset="0"/>
                <a:cs typeface="Times New Roman" panose="02020603050405020304" charset="0"/>
              </a:rPr>
              <a:t>: Turns appliances ON/OFF automatically, reducing power waste.</a:t>
            </a:r>
          </a:p>
          <a:p>
            <a:pPr marL="0" indent="0">
              <a:buNone/>
            </a:pPr>
            <a:endParaRPr lang="en-US" altLang="en-US" dirty="0">
              <a:latin typeface="Times New Roman" panose="02020603050405020304" charset="0"/>
              <a:cs typeface="Times New Roman" panose="02020603050405020304" charset="0"/>
            </a:endParaRPr>
          </a:p>
          <a:p>
            <a:pPr marL="0" indent="0">
              <a:buNone/>
            </a:pPr>
            <a:r>
              <a:rPr lang="en-US" altLang="en-US" b="1" u="sng" dirty="0">
                <a:latin typeface="Times New Roman" panose="02020603050405020304" charset="0"/>
                <a:cs typeface="Times New Roman" panose="02020603050405020304" charset="0"/>
              </a:rPr>
              <a:t>Convenient</a:t>
            </a:r>
            <a:r>
              <a:rPr lang="en-US" altLang="en-US" dirty="0">
                <a:latin typeface="Times New Roman" panose="02020603050405020304" charset="0"/>
                <a:cs typeface="Times New Roman" panose="02020603050405020304" charset="0"/>
              </a:rPr>
              <a:t>: Automates daily routines, no manual switching needed.</a:t>
            </a:r>
          </a:p>
          <a:p>
            <a:pPr marL="0" indent="0">
              <a:buNone/>
            </a:pPr>
            <a:endParaRPr lang="en-US" altLang="en-US" dirty="0">
              <a:latin typeface="Times New Roman" panose="02020603050405020304" charset="0"/>
              <a:cs typeface="Times New Roman" panose="02020603050405020304" charset="0"/>
            </a:endParaRPr>
          </a:p>
          <a:p>
            <a:pPr marL="0" indent="0">
              <a:buNone/>
            </a:pPr>
            <a:r>
              <a:rPr lang="en-US" altLang="en-US" b="1" u="sng" dirty="0">
                <a:latin typeface="Times New Roman" panose="02020603050405020304" charset="0"/>
                <a:cs typeface="Times New Roman" panose="02020603050405020304" charset="0"/>
              </a:rPr>
              <a:t>Safe</a:t>
            </a:r>
            <a:r>
              <a:rPr lang="en-US" altLang="en-US" dirty="0">
                <a:latin typeface="Times New Roman" panose="02020603050405020304" charset="0"/>
                <a:cs typeface="Times New Roman" panose="02020603050405020304" charset="0"/>
              </a:rPr>
              <a:t>: Prevents overheating and fire hazards by limiting run-time.</a:t>
            </a:r>
          </a:p>
          <a:p>
            <a:pPr marL="0" indent="0">
              <a:buNone/>
            </a:pPr>
            <a:endParaRPr lang="en-US" altLang="en-US" dirty="0">
              <a:latin typeface="Times New Roman" panose="02020603050405020304" charset="0"/>
              <a:cs typeface="Times New Roman" panose="02020603050405020304" charset="0"/>
            </a:endParaRPr>
          </a:p>
          <a:p>
            <a:pPr marL="0" indent="0">
              <a:buNone/>
            </a:pPr>
            <a:r>
              <a:rPr lang="en-US" altLang="en-US" b="1" u="sng" dirty="0">
                <a:latin typeface="Times New Roman" panose="02020603050405020304" charset="0"/>
                <a:cs typeface="Times New Roman" panose="02020603050405020304" charset="0"/>
              </a:rPr>
              <a:t>Instant Status</a:t>
            </a:r>
            <a:r>
              <a:rPr lang="en-US" altLang="en-US" dirty="0">
                <a:latin typeface="Times New Roman" panose="02020603050405020304" charset="0"/>
                <a:cs typeface="Times New Roman" panose="02020603050405020304" charset="0"/>
              </a:rPr>
              <a:t>: Shows live appliance status and alerts on faults.</a:t>
            </a:r>
          </a:p>
          <a:p>
            <a:pPr marL="0" indent="0">
              <a:buNone/>
            </a:pPr>
            <a:endParaRPr lang="en-US" altLang="en-US" dirty="0">
              <a:latin typeface="Times New Roman" panose="02020603050405020304" charset="0"/>
              <a:cs typeface="Times New Roman" panose="02020603050405020304" charset="0"/>
            </a:endParaRPr>
          </a:p>
          <a:p>
            <a:pPr marL="0" indent="0">
              <a:buNone/>
            </a:pPr>
            <a:r>
              <a:rPr lang="en-US" altLang="en-US" b="1" u="sng" dirty="0">
                <a:latin typeface="Times New Roman" panose="02020603050405020304" charset="0"/>
                <a:cs typeface="Times New Roman" panose="02020603050405020304" charset="0"/>
              </a:rPr>
              <a:t>Flexible</a:t>
            </a:r>
            <a:r>
              <a:rPr lang="en-US" altLang="en-US" dirty="0">
                <a:latin typeface="Times New Roman" panose="02020603050405020304" charset="0"/>
                <a:cs typeface="Times New Roman" panose="02020603050405020304" charset="0"/>
              </a:rPr>
              <a:t>: Allows quick schedule changes based on needs.</a:t>
            </a:r>
          </a:p>
          <a:p>
            <a:pPr marL="0" indent="0">
              <a:buNone/>
            </a:pPr>
            <a:endParaRPr lang="en-US" altLang="en-US" dirty="0">
              <a:latin typeface="Times New Roman" panose="02020603050405020304" charset="0"/>
              <a:cs typeface="Times New Roman" panose="02020603050405020304" charset="0"/>
            </a:endParaRPr>
          </a:p>
          <a:p>
            <a:pPr marL="0" indent="0">
              <a:buNone/>
            </a:pPr>
            <a:r>
              <a:rPr lang="en-US" altLang="en-US" b="1" u="sng" dirty="0">
                <a:latin typeface="Times New Roman" panose="02020603050405020304" charset="0"/>
                <a:cs typeface="Times New Roman" panose="02020603050405020304" charset="0"/>
              </a:rPr>
              <a:t>Maintenance Alerts</a:t>
            </a:r>
            <a:r>
              <a:rPr lang="en-US" altLang="en-US" dirty="0">
                <a:latin typeface="Times New Roman" panose="02020603050405020304" charset="0"/>
                <a:cs typeface="Times New Roman" panose="02020603050405020304" charset="0"/>
              </a:rPr>
              <a:t>: Reminds when service is required.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stellar" panose="020A0402060406010301" pitchFamily="18" charset="0"/>
                <a:cs typeface="Castellar" panose="020A0402060406010301" pitchFamily="18" charset="0"/>
              </a:rPr>
              <a:t>THANK YOU</a:t>
            </a:r>
            <a:endParaRPr lang="en-IN" dirty="0">
              <a:latin typeface="Castellar" panose="020A0402060406010301" pitchFamily="18" charset="0"/>
              <a:cs typeface="Castellar" panose="020A0402060406010301" pitchFamily="18" charset="0"/>
            </a:endParaRPr>
          </a:p>
        </p:txBody>
      </p:sp>
      <p:sp>
        <p:nvSpPr>
          <p:cNvPr id="3" name="Subtitle 2"/>
          <p:cNvSpPr>
            <a:spLocks noGrp="1"/>
          </p:cNvSpPr>
          <p:nvPr>
            <p:ph type="subTitle" idx="1"/>
          </p:nvPr>
        </p:nvSpPr>
        <p:spPr/>
        <p:txBody>
          <a:bodyPr/>
          <a:lstStyle/>
          <a:p>
            <a:endParaRPr lang="en-I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TotalTime>
  <Words>535</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vt:i4>
      </vt:variant>
    </vt:vector>
  </HeadingPairs>
  <TitlesOfParts>
    <vt:vector size="18" baseType="lpstr">
      <vt:lpstr>Arial</vt:lpstr>
      <vt:lpstr>Bahnschrift SemiCondensed</vt:lpstr>
      <vt:lpstr>Bauhaus 93</vt:lpstr>
      <vt:lpstr>Calibri</vt:lpstr>
      <vt:lpstr>Calibri Light</vt:lpstr>
      <vt:lpstr>Castellar</vt:lpstr>
      <vt:lpstr>Centaur</vt:lpstr>
      <vt:lpstr>Colonna MT</vt:lpstr>
      <vt:lpstr>Times New Roman</vt:lpstr>
      <vt:lpstr>Wingdings</vt:lpstr>
      <vt:lpstr>Retrospect</vt:lpstr>
      <vt:lpstr>TIME BASED APPLIANCE CONTROL WITH REAL TIME FEEDBACK</vt:lpstr>
      <vt:lpstr>ABSTRACT</vt:lpstr>
      <vt:lpstr>BLOCK DIAGRAM</vt:lpstr>
      <vt:lpstr>      COMPONENTS AND ITS USES</vt:lpstr>
      <vt:lpstr>Real-time Applications</vt:lpstr>
      <vt:lpstr>HOW WILL THE TIME BASED APPLIANCE CONTROL WITH REAL TIME FEEDBACK Helps the User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 SLEEP-ALARM FOR DRIVERS</dc:title>
  <dc:creator>Microsoft account</dc:creator>
  <cp:lastModifiedBy>DELL</cp:lastModifiedBy>
  <cp:revision>14</cp:revision>
  <dcterms:created xsi:type="dcterms:W3CDTF">2025-08-10T17:28:00Z</dcterms:created>
  <dcterms:modified xsi:type="dcterms:W3CDTF">2025-12-05T03:35:52Z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3CACCCCAF5E746DD85537068C17720C7_13</vt:lpwstr>
  </property>
  <property fmtid="{D5CDD505-2E9C-101B-9397-08002B2CF9AE}" pid="3" name="KSOProductBuildVer">
    <vt:lpwstr>1033-12.2.0.21931</vt:lpwstr>
  </property>
</Properties>
</file>